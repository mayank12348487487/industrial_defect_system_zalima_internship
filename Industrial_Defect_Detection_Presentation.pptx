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8FAFC"/>
                </a:solidFill>
              </a:defRPr>
            </a:pPr>
            <a:r>
              <a:t>INDUSTRIAL DEFECT DETECTION SYSTEM</a:t>
            </a:r>
          </a:p>
          <a:p>
            <a:pPr>
              <a:spcAft>
                <a:spcPts val="1600"/>
              </a:spcAft>
              <a:defRPr sz="1800" b="1">
                <a:solidFill>
                  <a:srgbClr val="0EA5E9"/>
                </a:solidFill>
              </a:defRPr>
            </a:pPr>
            <a:r>
              <a:t>Real-Time Edge AI Computer Vision &amp; Automated PLC Sorting Pipeline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Production-Ready Architecture for Steel Strip Surface Defect Quality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572000"/>
            <a:ext cx="32004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475488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Core Technologies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Framework: </a:t>
            </a:r>
            <a:r>
              <a:rPr sz="1200">
                <a:solidFill>
                  <a:srgbClr val="CBD5E1"/>
                </a:solidFill>
              </a:rPr>
              <a:t>FastAPI &amp; Python 3.13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Inference Engine: </a:t>
            </a:r>
            <a:r>
              <a:rPr sz="1200">
                <a:solidFill>
                  <a:srgbClr val="CBD5E1"/>
                </a:solidFill>
              </a:rPr>
              <a:t>ONNX Runtime (CPU/CUDA)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Model: </a:t>
            </a:r>
            <a:r>
              <a:rPr sz="1200">
                <a:solidFill>
                  <a:srgbClr val="CBD5E1"/>
                </a:solidFill>
              </a:rPr>
              <a:t>YOLOv8s Defect Detector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572000"/>
            <a:ext cx="32004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475488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Edge Capabilities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Latency: </a:t>
            </a:r>
            <a:r>
              <a:rPr sz="1200">
                <a:solidFill>
                  <a:srgbClr val="CBD5E1"/>
                </a:solidFill>
              </a:rPr>
              <a:t>~4.8ms GPU / ~28.9ms CPU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Industrial Protocol: </a:t>
            </a:r>
            <a:r>
              <a:rPr sz="1200">
                <a:solidFill>
                  <a:srgbClr val="CBD5E1"/>
                </a:solidFill>
              </a:rPr>
              <a:t>WebSocket PLC Telemetry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Monitoring: </a:t>
            </a:r>
            <a:r>
              <a:rPr sz="1200">
                <a:solidFill>
                  <a:srgbClr val="CBD5E1"/>
                </a:solidFill>
              </a:rPr>
              <a:t>Prometheus &amp; Glassmorphic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572000"/>
            <a:ext cx="32004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475488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Deployment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Containerization: </a:t>
            </a:r>
            <a:r>
              <a:rPr sz="1200">
                <a:solidFill>
                  <a:srgbClr val="CBD5E1"/>
                </a:solidFill>
              </a:rPr>
              <a:t>Docker &amp; Docker Compose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CI/CD: </a:t>
            </a:r>
            <a:r>
              <a:rPr sz="1200">
                <a:solidFill>
                  <a:srgbClr val="CBD5E1"/>
                </a:solidFill>
              </a:rPr>
              <a:t>Automated GitHub Actions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Test Coverage: </a:t>
            </a:r>
            <a:r>
              <a:rPr sz="1200">
                <a:solidFill>
                  <a:srgbClr val="CBD5E1"/>
                </a:solidFill>
              </a:rPr>
              <a:t>33/33 Pytest Suite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INDUSTRIAL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Manufacturing Context &amp; Problem Statement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Overcoming limitations of traditional manual inspection in high-speed rolling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Traditional Inspection Pitfalls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High Line Speeds: </a:t>
            </a:r>
            <a:r>
              <a:rPr sz="1200">
                <a:solidFill>
                  <a:srgbClr val="CBD5E1"/>
                </a:solidFill>
              </a:rPr>
              <a:t>Steel strip lines run at &gt;10 m/s, making manual human inspection physically impossible and prone to eye-fatigue error.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Micro-Scale Defects: </a:t>
            </a:r>
            <a:r>
              <a:rPr sz="1200">
                <a:solidFill>
                  <a:srgbClr val="CBD5E1"/>
                </a:solidFill>
              </a:rPr>
              <a:t>Defects like crazing and fine scratches exhibit low contrast against raw metallic sheen, escaping human sight.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Expensive Scrap Losses: </a:t>
            </a:r>
            <a:r>
              <a:rPr sz="1200">
                <a:solidFill>
                  <a:srgbClr val="CBD5E1"/>
                </a:solidFill>
              </a:rPr>
              <a:t>Uncaught defects travel downstream, turning entire coils into scrap or causing catastrophic mechanical failures in client dies.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Lack of Traceability: </a:t>
            </a:r>
            <a:r>
              <a:rPr sz="1200">
                <a:solidFill>
                  <a:srgbClr val="CBD5E1"/>
                </a:solidFill>
              </a:rPr>
              <a:t>Traditional lines lack automated timestamped coordinate logs and real-time defect telemetry for audit compliance.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Our Edge AI Solution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Sub-30ms Real-Time Inference: </a:t>
            </a:r>
            <a:r>
              <a:rPr sz="1200">
                <a:solidFill>
                  <a:srgbClr val="CBD5E1"/>
                </a:solidFill>
              </a:rPr>
              <a:t>Hardware-accelerated ONNX engine delivers real-time defect isolation within the tight timing window of industrial conveyor belts.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Per-Class Optimized Thresholds: </a:t>
            </a:r>
            <a:r>
              <a:rPr sz="1200">
                <a:solidFill>
                  <a:srgbClr val="CBD5E1"/>
                </a:solidFill>
              </a:rPr>
              <a:t>Custom F1-calibrated confidence tuning prevents false-positives while guaranteeing high recall for critical flaws.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Simulated PLC Synchronization: </a:t>
            </a:r>
            <a:r>
              <a:rPr sz="1200">
                <a:solidFill>
                  <a:srgbClr val="CBD5E1"/>
                </a:solidFill>
              </a:rPr>
              <a:t>Instantly emits WebSocket JSON coordinate payloads to trigger robotic sorting mechanisms and reject gates.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Full-Stack Observability: </a:t>
            </a:r>
            <a:r>
              <a:rPr sz="1200">
                <a:solidFill>
                  <a:srgbClr val="CBD5E1"/>
                </a:solidFill>
              </a:rPr>
              <a:t>Prometheus scrape endpoint and glassmorphic telemetry dashboard provide continuous line visibility.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DEFECT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NEU Metal Surface Defect Taxonomy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Comprehensive detection across 6 critical hot-rolled steel surface flaws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Patches (88.1% AP50)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Thick, high-contrast surface irregularities. Threshold: 0.50. High precision &amp; clear boundary delineation.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Inclusion (77.7% AP50)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Non-metallic particles trapped inside metal matrix. Threshold: 0.39. Granular multi-point clusters.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645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Pitted Surface (76.3% AP50)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Localized pitting/cavities from acid pickling. Threshold: 0.30. Distributed pinhole craters.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6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Scratches (75.1% AP50)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Linear mechanical abrasions from rollers. Threshold: 0.22. Long diagonal thin trails.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84048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02336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Rolled-in Scale (57.5% AP50)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Iron oxide scales pressed during rolling. Threshold: 0.25. Irregular dark textured patches.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84048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02336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Crazing (43.3% AP50)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Network of spiderweb micro-cracks. Threshold: 0.23. Subtle hairline stress patterns.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PIPELINE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End-to-End System Architecture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Data flow from camera ingest to edge inference, visualization, and PLC automation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834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1. Ingestion Layer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Multi-Source Ingestion: </a:t>
            </a:r>
            <a:r>
              <a:rPr sz="1200">
                <a:solidFill>
                  <a:srgbClr val="CBD5E1"/>
                </a:solidFill>
              </a:rPr>
              <a:t>Ingests live USB/IP industrial camera, local MP4 video file, or looping validation directory.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VideoStreamProcessor: </a:t>
            </a:r>
            <a:r>
              <a:rPr sz="1200">
                <a:solidFill>
                  <a:srgbClr val="CBD5E1"/>
                </a:solidFill>
              </a:rPr>
              <a:t>Decodes frames, maintains state, handles auto-reconnect and resolution normalization.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Dynamic Switching: </a:t>
            </a:r>
            <a:r>
              <a:rPr sz="1200">
                <a:solidFill>
                  <a:srgbClr val="CBD5E1"/>
                </a:solidFill>
              </a:rPr>
              <a:t>Enables runtime switching between sources via REST API without server restart.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2. AI Inference Engine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ONNX Runtime Core: </a:t>
            </a:r>
            <a:r>
              <a:rPr sz="1200">
                <a:solidFill>
                  <a:srgbClr val="CBD5E1"/>
                </a:solidFill>
              </a:rPr>
              <a:t>Hardware-accelerated engine supporting TensorRT, CUDA, and OpenVINO/CPU.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Letterbox Preprocessing: </a:t>
            </a:r>
            <a:r>
              <a:rPr sz="1200">
                <a:solidFill>
                  <a:srgbClr val="CBD5E1"/>
                </a:solidFill>
              </a:rPr>
              <a:t>Preserves aspect ratio with symmetric zero-padding and normalized float32 tensors.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Class-Wise NMS: </a:t>
            </a:r>
            <a:r>
              <a:rPr sz="1200">
                <a:solidFill>
                  <a:srgbClr val="CBD5E1"/>
                </a:solidFill>
              </a:rPr>
              <a:t>Non-Maximum Suppression (IoU=0.45) with per-class optimized confidence thresholds.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2918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645920"/>
            <a:ext cx="2834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3. Actuation &amp; UI Layer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MJPEG Video Stream: </a:t>
            </a:r>
            <a:r>
              <a:rPr sz="1200">
                <a:solidFill>
                  <a:srgbClr val="CBD5E1"/>
                </a:solidFill>
              </a:rPr>
              <a:t>Multipart live annotated video stream with bounding boxes and latency telemetry.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WebSocket PLC Broadcast: </a:t>
            </a:r>
            <a:r>
              <a:rPr sz="1200">
                <a:solidFill>
                  <a:srgbClr val="CBD5E1"/>
                </a:solidFill>
              </a:rPr>
              <a:t>Coordinates dispatched to sorting actuators within milliseconds of detection.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Prometheus Metrics: </a:t>
            </a:r>
            <a:r>
              <a:rPr sz="1200">
                <a:solidFill>
                  <a:srgbClr val="CBD5E1"/>
                </a:solidFill>
              </a:rPr>
              <a:t>Counters and Gauges exported at /metrics for Grafana / line monitoring.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MODEL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YOLOv8s &amp; Hardware-Accelerated ONNX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Ultra-low latency execution on edge computing nodes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14630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GPU LATENCY</a:t>
            </a:r>
          </a:p>
          <a:p>
            <a:pPr>
              <a:defRPr sz="2600" b="1">
                <a:solidFill>
                  <a:srgbClr val="10B981"/>
                </a:solidFill>
              </a:defRPr>
            </a:pPr>
            <a:r>
              <a:t>4.8 ms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RTX 2050 / TensorRT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14630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79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CPU LATENCY</a:t>
            </a:r>
          </a:p>
          <a:p>
            <a:pPr>
              <a:defRPr sz="2600" b="1">
                <a:solidFill>
                  <a:srgbClr val="0EA5E9"/>
                </a:solidFill>
              </a:defRPr>
            </a:pPr>
            <a:r>
              <a:t>28.9 ms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Standard Intel/AMD CPU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14630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THROUGHPUT</a:t>
            </a:r>
          </a:p>
          <a:p>
            <a:pPr>
              <a:defRPr sz="2600" b="1">
                <a:solidFill>
                  <a:srgbClr val="A855F7"/>
                </a:solidFill>
              </a:defRPr>
            </a:pPr>
            <a:r>
              <a:t>180+ FPS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GPU Pipeline Capacity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468880" cy="14630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GLOBAL MAP@50</a:t>
            </a:r>
          </a:p>
          <a:p>
            <a:pPr>
              <a:defRPr sz="2600" b="1">
                <a:solidFill>
                  <a:srgbClr val="10B981"/>
                </a:solidFill>
              </a:defRPr>
            </a:pPr>
            <a:r>
              <a:t>69.7%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Validation Benchmark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512064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46634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Why ONNX Runtime over Raw PyTorch?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Zero Python Overhead: </a:t>
            </a:r>
            <a:r>
              <a:rPr sz="1200">
                <a:solidFill>
                  <a:srgbClr val="CBD5E1"/>
                </a:solidFill>
              </a:rPr>
              <a:t>Optimized C++ execution graph eliminates GIL bottleneck and PyTorch tensor overhead.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Cross-Hardware Portability: </a:t>
            </a:r>
            <a:r>
              <a:rPr sz="1200">
                <a:solidFill>
                  <a:srgbClr val="CBD5E1"/>
                </a:solidFill>
              </a:rPr>
              <a:t>Seamlessly targets x86 edge servers, NVIDIA Jetson, or ARM industrial gateways without code modification.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Operator Fusion &amp; Constant Folding: </a:t>
            </a:r>
            <a:r>
              <a:rPr sz="1200">
                <a:solidFill>
                  <a:srgbClr val="CBD5E1"/>
                </a:solidFill>
              </a:rPr>
              <a:t>Pre-computes graph constants and fuses Conv+BatchNorm+SiLU kernels for peak memory bandwidth efficiency.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200400"/>
            <a:ext cx="512064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383280"/>
            <a:ext cx="46634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Letterbox Preprocessing Architecture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Aspect Ratio Preservation: </a:t>
            </a:r>
            <a:r>
              <a:rPr sz="1200">
                <a:solidFill>
                  <a:srgbClr val="CBD5E1"/>
                </a:solidFill>
              </a:rPr>
              <a:t>Calculates exact scaling factor and applies minimum padding to 640x640 input grid.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Inverse Coordinate Mapping: </a:t>
            </a:r>
            <a:r>
              <a:rPr sz="1200">
                <a:solidFill>
                  <a:srgbClr val="CBD5E1"/>
                </a:solidFill>
              </a:rPr>
              <a:t>Maps bounding box predictions back to original raw image resolution seamlessly.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Vectorized Array Operations: </a:t>
            </a:r>
            <a:r>
              <a:rPr sz="1200">
                <a:solidFill>
                  <a:srgbClr val="CBD5E1"/>
                </a:solidFill>
              </a:rPr>
              <a:t>Fully implemented in NumPy/OpenCV for sub-millisecond preprocessing latency (~1.8ms).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PRECISION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Dynamic Class-Specific Confidence Thresholds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Balancing Precision vs Recall based on defect severity and visual distinctiveness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The Problem with Global Thresholds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Unequal Defect Saliency: </a:t>
            </a:r>
            <a:r>
              <a:rPr sz="1200">
                <a:solidFill>
                  <a:srgbClr val="CBD5E1"/>
                </a:solidFill>
              </a:rPr>
              <a:t>A global threshold of 0.50 catches Patches (88.1% AP) perfectly, but drops recall on Crazing (43.3% AP) down to 20%.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Safety vs False Alarm Tradeoff: </a:t>
            </a:r>
            <a:r>
              <a:rPr sz="1200">
                <a:solidFill>
                  <a:srgbClr val="CBD5E1"/>
                </a:solidFill>
              </a:rPr>
              <a:t>Critical safety flaws (Crazing, Scratches) require maximum recall to prevent catastrophic failures.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Visual Granularity Disparity: </a:t>
            </a:r>
            <a:r>
              <a:rPr sz="1200">
                <a:solidFill>
                  <a:srgbClr val="CBD5E1"/>
                </a:solidFill>
              </a:rPr>
              <a:t>Inclusions and Pitted surfaces produce smaller bounding boxes compared to broad roll patches.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F1-Score Empirical Tuning: </a:t>
            </a:r>
            <a:r>
              <a:rPr sz="1200">
                <a:solidFill>
                  <a:srgbClr val="CBD5E1"/>
                </a:solidFill>
              </a:rPr>
              <a:t>Thresholds were mathematically tuned on 360 validation images to maximize F1-score per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Optimized Threshold Configuration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Patches -&gt; 0.50: </a:t>
            </a:r>
            <a:r>
              <a:rPr sz="1200">
                <a:solidFill>
                  <a:srgbClr val="CBD5E1"/>
                </a:solidFill>
              </a:rPr>
              <a:t>High visual contrast allows strict thresholding with 91.2% precision.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Inclusion -&gt; 0.39: </a:t>
            </a:r>
            <a:r>
              <a:rPr sz="1200">
                <a:solidFill>
                  <a:srgbClr val="CBD5E1"/>
                </a:solidFill>
              </a:rPr>
              <a:t>Optimized to isolate small particle clusters from background grain.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Pitted Surface -&gt; 0.30: </a:t>
            </a:r>
            <a:r>
              <a:rPr sz="1200">
                <a:solidFill>
                  <a:srgbClr val="CBD5E1"/>
                </a:solidFill>
              </a:rPr>
              <a:t>Filters out lighting reflections while catching surface pinholes.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Rolled-in Scale -&gt; 0.25: </a:t>
            </a:r>
            <a:r>
              <a:rPr sz="1200">
                <a:solidFill>
                  <a:srgbClr val="CBD5E1"/>
                </a:solidFill>
              </a:rPr>
              <a:t>Prevents texture confusion with unrolled metal substrate.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Crazing -&gt; 0.23: </a:t>
            </a:r>
            <a:r>
              <a:rPr sz="1200">
                <a:solidFill>
                  <a:srgbClr val="CBD5E1"/>
                </a:solidFill>
              </a:rPr>
              <a:t>Boosts recall for spiderweb cracks blending into metal sheen.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Scratches -&gt; 0.22: </a:t>
            </a:r>
            <a:r>
              <a:rPr sz="1200">
                <a:solidFill>
                  <a:srgbClr val="CBD5E1"/>
                </a:solidFill>
              </a:rPr>
              <a:t>Maintains detection across faint, low-contrast linear scratch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OPERATOR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Glassmorphic Web UI &amp; Live Telemetry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Modern, operator-focused monitoring dashboard built with FastAPI &amp; Chart.js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1. Live Video Stream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Multipart MJPEG: </a:t>
            </a:r>
            <a:r>
              <a:rPr sz="1200">
                <a:solidFill>
                  <a:srgbClr val="CBD5E1"/>
                </a:solidFill>
              </a:rPr>
              <a:t>Delivers smooth video streaming at 30+ FPS directly into the browser without plugins.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Real-Time Overlay: </a:t>
            </a:r>
            <a:r>
              <a:rPr sz="1200">
                <a:solidFill>
                  <a:srgbClr val="CBD5E1"/>
                </a:solidFill>
              </a:rPr>
              <a:t>Dynamic bounding boxes, class labels, confidence scores, and per-frame latency badges.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Source Control: </a:t>
            </a:r>
            <a:r>
              <a:rPr sz="1200">
                <a:solidFill>
                  <a:srgbClr val="CBD5E1"/>
                </a:solidFill>
              </a:rPr>
              <a:t>Webcam, directory loop, video file, or instant file drag-and-drop upload.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2. Real-Time Telemetry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Chart.js Time-Series: </a:t>
            </a:r>
            <a:r>
              <a:rPr sz="1200">
                <a:solidFill>
                  <a:srgbClr val="CBD5E1"/>
                </a:solidFill>
              </a:rPr>
              <a:t>Visualizes real-time FPS and latency fluctuations over sliding time windows.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Defect Class Distribution: </a:t>
            </a:r>
            <a:r>
              <a:rPr sz="1200">
                <a:solidFill>
                  <a:srgbClr val="CBD5E1"/>
                </a:solidFill>
              </a:rPr>
              <a:t>Live doughnut chart updating defect frequencies by category.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Status Badges: </a:t>
            </a:r>
            <a:r>
              <a:rPr sz="1200">
                <a:solidFill>
                  <a:srgbClr val="CBD5E1"/>
                </a:solidFill>
              </a:rPr>
              <a:t>Instant system health, camera uptime, and active connection 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2918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645920"/>
            <a:ext cx="2834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3. Quality Audit Logs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Inspection Event Table: </a:t>
            </a:r>
            <a:r>
              <a:rPr sz="1200">
                <a:solidFill>
                  <a:srgbClr val="CBD5E1"/>
                </a:solidFill>
              </a:rPr>
              <a:t>Timestamped event stream recording every detected defect coordinate.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JSON Audit Export: </a:t>
            </a:r>
            <a:r>
              <a:rPr sz="1200">
                <a:solidFill>
                  <a:srgbClr val="CBD5E1"/>
                </a:solidFill>
              </a:rPr>
              <a:t>One-click /api/export_report for ISO quality management and shift reports.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REST Detection Sandbox: </a:t>
            </a:r>
            <a:r>
              <a:rPr sz="1200">
                <a:solidFill>
                  <a:srgbClr val="CBD5E1"/>
                </a:solidFill>
              </a:rPr>
              <a:t>Interactive single-image upload with bounding box visualization.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INDUSTRIAL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Simulated PLC Actuation &amp; Sorting Protocol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Zero-latency synchronization with Programmable Logic Controllers (PLCs)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WebSocket PLC Broadcast Protocol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Event-Driven Dispatch: </a:t>
            </a:r>
            <a:r>
              <a:rPr sz="1200">
                <a:solidFill>
                  <a:srgbClr val="CBD5E1"/>
                </a:solidFill>
              </a:rPr>
              <a:t>Whenever a defect is confirmed by the ONNX detector, a structured JSON payload is broadcast to all active PLC endpoints.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Thread-Safe Async Loop: </a:t>
            </a:r>
            <a:r>
              <a:rPr sz="1200">
                <a:solidFill>
                  <a:srgbClr val="CBD5E1"/>
                </a:solidFill>
              </a:rPr>
              <a:t>Background video processing thread dispatches safely into the asyncio event loop via asyncio.run_coroutine_threadsafe.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Connection Resilience: </a:t>
            </a:r>
            <a:r>
              <a:rPr sz="1200">
                <a:solidFill>
                  <a:srgbClr val="CBD5E1"/>
                </a:solidFill>
              </a:rPr>
              <a:t>Automatic cleanup of disconnected clients (_safe_send_ws) prevents memory leaks or stream stalling.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Payload Schema &amp; Sorting Logic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Coordinate Precision: </a:t>
            </a:r>
            <a:r>
              <a:rPr sz="1200">
                <a:solidFill>
                  <a:srgbClr val="CBD5E1"/>
                </a:solidFill>
              </a:rPr>
              <a:t>xmin, ymin, xmax, ymax formatted in both absolute pixels and normalized ratios.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Confidence &amp; Class ID: </a:t>
            </a:r>
            <a:r>
              <a:rPr sz="1200">
                <a:solidFill>
                  <a:srgbClr val="CBD5E1"/>
                </a:solidFill>
              </a:rPr>
              <a:t>Provides actuator with class priority (e.g. Scratches vs Crazing) to trigger differentiated sort bins.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Timestamp &amp; Frame Index: </a:t>
            </a:r>
            <a:r>
              <a:rPr sz="1200">
                <a:solidFill>
                  <a:srgbClr val="CBD5E1"/>
                </a:solidFill>
              </a:rPr>
              <a:t>Precise millisecond timestamps for encoder wheel synchronization along conveyor lines.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Actuator Triggers: </a:t>
            </a:r>
            <a:r>
              <a:rPr sz="1200">
                <a:solidFill>
                  <a:srgbClr val="CBD5E1"/>
                </a:solidFill>
              </a:rPr>
              <a:t>Triggers pneumatic ejector gates, marking sprayers, and alarm beacons.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Enterprise DevOps, Testing &amp; Containerization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Built for high reliability, automated verification, and rapid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Docker Containerization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Multi-Stage Dockerfile: </a:t>
            </a:r>
            <a:r>
              <a:rPr sz="1200">
                <a:solidFill>
                  <a:srgbClr val="CBD5E1"/>
                </a:solidFill>
              </a:rPr>
              <a:t>Lightweight Python 3.13 image with minimal OS graphics libraries (libgl1, libglib2.0).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Docker Compose Stack: </a:t>
            </a:r>
            <a:r>
              <a:rPr sz="1200">
                <a:solidFill>
                  <a:srgbClr val="CBD5E1"/>
                </a:solidFill>
              </a:rPr>
              <a:t>Orchestrates the FastAPI service and Prometheus scraper in an isolated network.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Automated Health Checks: </a:t>
            </a:r>
            <a:r>
              <a:rPr sz="1200">
                <a:solidFill>
                  <a:srgbClr val="CBD5E1"/>
                </a:solidFill>
              </a:rPr>
              <a:t>Configured HTTP container health monitoring at /api/health with auto-restart.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Continuous Integration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GitHub Actions Pipeline: </a:t>
            </a:r>
            <a:r>
              <a:rPr sz="1200">
                <a:solidFill>
                  <a:srgbClr val="CBD5E1"/>
                </a:solidFill>
              </a:rPr>
              <a:t>Automated CI runs on every push and PR against main/master branches.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Automated Test Suite: </a:t>
            </a:r>
            <a:r>
              <a:rPr sz="1200">
                <a:solidFill>
                  <a:srgbClr val="CBD5E1"/>
                </a:solidFill>
              </a:rPr>
              <a:t>Executes full test matrix across API routes, ONNX inference, and video stream processors.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Zero Dependency Drift: </a:t>
            </a:r>
            <a:r>
              <a:rPr sz="1200">
                <a:solidFill>
                  <a:srgbClr val="CBD5E1"/>
                </a:solidFill>
              </a:rPr>
              <a:t>Explicit requirements lock ensuring reproducible builds on any environment.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2918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645920"/>
            <a:ext cx="2834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100% Test Pass Rate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33 Automated Tests: </a:t>
            </a:r>
            <a:r>
              <a:rPr sz="1200">
                <a:solidFill>
                  <a:srgbClr val="CBD5E1"/>
                </a:solidFill>
              </a:rPr>
              <a:t>Comprehensive pytest coverage across 4 dedicated test modules.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tests/test_api.py: </a:t>
            </a:r>
            <a:r>
              <a:rPr sz="1200">
                <a:solidFill>
                  <a:srgbClr val="CBD5E1"/>
                </a:solidFill>
              </a:rPr>
              <a:t>14 tests verifying all REST endpoints, form uploads, and JSON contracts.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tests/test_onnx_inference.py: </a:t>
            </a:r>
            <a:r>
              <a:rPr sz="1200">
                <a:solidFill>
                  <a:srgbClr val="CBD5E1"/>
                </a:solidFill>
              </a:rPr>
              <a:t>10 tests validating tensor math, NMS, and class metadata.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tests/test_video_stream.py: </a:t>
            </a:r>
            <a:r>
              <a:rPr sz="1200">
                <a:solidFill>
                  <a:srgbClr val="CBD5E1"/>
                </a:solidFill>
              </a:rPr>
              <a:t>4 tests checking directory loops, overlays, and camera failover.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CONTINUOUS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Error Analysis &amp; Technology Roadmap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Documented failure modes, mitigation strategies, and next-phase innovations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Failure Mode Analysis &amp; Mitigation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Crazing Micro-Cracks: </a:t>
            </a:r>
            <a:r>
              <a:rPr sz="1200">
                <a:solidFill>
                  <a:srgbClr val="CBD5E1"/>
                </a:solidFill>
              </a:rPr>
              <a:t>Downsampling to 640x640 reduces gradient visibility. Mitigation: CLAHE contrast enhancement &amp; lowered 0.23 threshold.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Rolled-in Scale Granularity: </a:t>
            </a:r>
            <a:r>
              <a:rPr sz="1200">
                <a:solidFill>
                  <a:srgbClr val="CBD5E1"/>
                </a:solidFill>
              </a:rPr>
              <a:t>Texture overlap with base steel grain. Mitigation: Albumentations RandomBrightnessContrast and ISONoise training pipeline.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Diagonal Scratches: </a:t>
            </a:r>
            <a:r>
              <a:rPr sz="1200">
                <a:solidFill>
                  <a:srgbClr val="CBD5E1"/>
                </a:solidFill>
              </a:rPr>
              <a:t>Fragmented bounding boxes on long diagonal abrasions. Mitigation: IoU NMS tuning (0.45) and rotation augmentations.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Future Roadmap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FP16 / INT8 TensorRT Quantization: </a:t>
            </a:r>
            <a:r>
              <a:rPr sz="1200">
                <a:solidFill>
                  <a:srgbClr val="CBD5E1"/>
                </a:solidFill>
              </a:rPr>
              <a:t>Targeting ~2.2ms latency for high-speed lines (&gt;25 m/s) on NVIDIA Jetson Orin.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OPC-UA / MQTT Industrial Protocols: </a:t>
            </a:r>
            <a:r>
              <a:rPr sz="1200">
                <a:solidFill>
                  <a:srgbClr val="CBD5E1"/>
                </a:solidFill>
              </a:rPr>
              <a:t>Native integration with Siemens S7, Rockwell Allen-Bradley, and Beckhoff PLCs.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Multi-Camera Multi-View Sync: </a:t>
            </a:r>
            <a:r>
              <a:rPr sz="1200">
                <a:solidFill>
                  <a:srgbClr val="CBD5E1"/>
                </a:solidFill>
              </a:rPr>
              <a:t>Simultaneous top-and-bottom surface inspection using dual asynchronous ONNX streams.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Active Learning Feedback Loop: </a:t>
            </a:r>
            <a:r>
              <a:rPr sz="1200">
                <a:solidFill>
                  <a:srgbClr val="CBD5E1"/>
                </a:solidFill>
              </a:rPr>
              <a:t>One-click operator flagging of false-positives for automated retraining.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EVALUATION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Impact &amp; Evaluation Takeaways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High-performance edge solution ready for real-world industrial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Key Achievements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Sub-30ms Edge Speed: </a:t>
            </a:r>
            <a:r>
              <a:rPr sz="1200">
                <a:solidFill>
                  <a:srgbClr val="CBD5E1"/>
                </a:solidFill>
              </a:rPr>
              <a:t>Real-time surface defect detection operating at 30+ FPS CPU / 180+ FPS GPU.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69.7% Global mAP50: </a:t>
            </a:r>
            <a:r>
              <a:rPr sz="1200">
                <a:solidFill>
                  <a:srgbClr val="CBD5E1"/>
                </a:solidFill>
              </a:rPr>
              <a:t>High accuracy across 6 complex industrial defect classes on the NEU-DET benchmark.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F1-Optimized Tuning: </a:t>
            </a:r>
            <a:r>
              <a:rPr sz="1200">
                <a:solidFill>
                  <a:srgbClr val="CBD5E1"/>
                </a:solidFill>
              </a:rPr>
              <a:t>Class-specific confidence thresholds maximizing safety-critical defect recall.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Zero-Downtime Multi-Source: </a:t>
            </a:r>
            <a:r>
              <a:rPr sz="1200">
                <a:solidFill>
                  <a:srgbClr val="CBD5E1"/>
                </a:solidFill>
              </a:rPr>
              <a:t>Seamless runtime switching between live webcam, validation loop, and video files.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Industry 4.0 Ready: </a:t>
            </a:r>
            <a:r>
              <a:rPr sz="1200">
                <a:solidFill>
                  <a:srgbClr val="CBD5E1"/>
                </a:solidFill>
              </a:rPr>
              <a:t>WebSocket PLC triggers, Prometheus metrics, and full Docker orchestration.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Evaluator Quick-Start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1-Command Docker Deployment: </a:t>
            </a:r>
            <a:r>
              <a:rPr sz="1200">
                <a:solidFill>
                  <a:srgbClr val="CBD5E1"/>
                </a:solidFill>
              </a:rPr>
              <a:t>docker compose up --build (Spins up FastAPI at :8000 and Prometheus at :9090).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Live Interactive Dashboard: </a:t>
            </a:r>
            <a:r>
              <a:rPr sz="1200">
                <a:solidFill>
                  <a:srgbClr val="CBD5E1"/>
                </a:solidFill>
              </a:rPr>
              <a:t>Open http://localhost:8000 to interact with the real-time detection UI.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Interactive OpenAPI Swagger: </a:t>
            </a:r>
            <a:r>
              <a:rPr sz="1200">
                <a:solidFill>
                  <a:srgbClr val="CBD5E1"/>
                </a:solidFill>
              </a:rPr>
              <a:t>Visit http://localhost:8000/docs to test all REST endpoints directly.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100% Passing Test Suite: </a:t>
            </a:r>
            <a:r>
              <a:rPr sz="1200">
                <a:solidFill>
                  <a:srgbClr val="CBD5E1"/>
                </a:solidFill>
              </a:rPr>
              <a:t>Run py -3.13 -m pytest tests/ -v for automated verification of all 33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